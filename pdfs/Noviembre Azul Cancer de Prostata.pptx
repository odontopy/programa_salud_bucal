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287000" cy="10287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Halimum" panose="020B0604020202020204" charset="0"/>
      <p:regular r:id="rId15"/>
    </p:embeddedFont>
    <p:embeddedFont>
      <p:font typeface="League Spartan" panose="020B0604020202020204" charset="0"/>
      <p:regular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Bold" panose="00000800000000000000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85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3749" y="6124557"/>
            <a:ext cx="8229600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39"/>
              </a:lnSpc>
            </a:pPr>
            <a:r>
              <a:rPr lang="en-US" sz="4699">
                <a:solidFill>
                  <a:srgbClr val="000E79"/>
                </a:solidFill>
                <a:latin typeface="Poppins"/>
                <a:ea typeface="Poppins"/>
                <a:cs typeface="Poppins"/>
                <a:sym typeface="Poppins"/>
              </a:rPr>
              <a:t>Mes de la prevención del cáncer de próstata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4197414" y="6172182"/>
            <a:ext cx="6861309" cy="4247036"/>
          </a:xfrm>
          <a:custGeom>
            <a:avLst/>
            <a:gdLst/>
            <a:ahLst/>
            <a:cxnLst/>
            <a:rect l="l" t="t" r="r" b="b"/>
            <a:pathLst>
              <a:path w="6861309" h="4247036">
                <a:moveTo>
                  <a:pt x="6861308" y="0"/>
                </a:moveTo>
                <a:lnTo>
                  <a:pt x="0" y="0"/>
                </a:lnTo>
                <a:lnTo>
                  <a:pt x="0" y="4247036"/>
                </a:lnTo>
                <a:lnTo>
                  <a:pt x="6861308" y="4247036"/>
                </a:lnTo>
                <a:lnTo>
                  <a:pt x="6861308" y="0"/>
                </a:lnTo>
                <a:close/>
              </a:path>
            </a:pathLst>
          </a:custGeom>
          <a:blipFill>
            <a:blip r:embed="rId2"/>
            <a:stretch>
              <a:fillRect t="-3868" b="-386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395262" y="1217619"/>
            <a:ext cx="1574265" cy="1574265"/>
          </a:xfrm>
          <a:custGeom>
            <a:avLst/>
            <a:gdLst/>
            <a:ahLst/>
            <a:cxnLst/>
            <a:rect l="l" t="t" r="r" b="b"/>
            <a:pathLst>
              <a:path w="1574265" h="1574265">
                <a:moveTo>
                  <a:pt x="0" y="0"/>
                </a:moveTo>
                <a:lnTo>
                  <a:pt x="1574265" y="0"/>
                </a:lnTo>
                <a:lnTo>
                  <a:pt x="1574265" y="1574264"/>
                </a:lnTo>
                <a:lnTo>
                  <a:pt x="0" y="1574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43607" y="1092451"/>
            <a:ext cx="1731148" cy="1731148"/>
          </a:xfrm>
          <a:custGeom>
            <a:avLst/>
            <a:gdLst/>
            <a:ahLst/>
            <a:cxnLst/>
            <a:rect l="l" t="t" r="r" b="b"/>
            <a:pathLst>
              <a:path w="1731148" h="1731148">
                <a:moveTo>
                  <a:pt x="0" y="0"/>
                </a:moveTo>
                <a:lnTo>
                  <a:pt x="1731148" y="0"/>
                </a:lnTo>
                <a:lnTo>
                  <a:pt x="1731148" y="1731148"/>
                </a:lnTo>
                <a:lnTo>
                  <a:pt x="0" y="1731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54802" y="1052269"/>
            <a:ext cx="1811513" cy="1811513"/>
          </a:xfrm>
          <a:custGeom>
            <a:avLst/>
            <a:gdLst/>
            <a:ahLst/>
            <a:cxnLst/>
            <a:rect l="l" t="t" r="r" b="b"/>
            <a:pathLst>
              <a:path w="1811513" h="1811513">
                <a:moveTo>
                  <a:pt x="0" y="0"/>
                </a:moveTo>
                <a:lnTo>
                  <a:pt x="1811513" y="0"/>
                </a:lnTo>
                <a:lnTo>
                  <a:pt x="1811513" y="1811513"/>
                </a:lnTo>
                <a:lnTo>
                  <a:pt x="0" y="18115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08680" y="3848049"/>
            <a:ext cx="7264669" cy="1590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09"/>
              </a:lnSpc>
            </a:pPr>
            <a:r>
              <a:rPr lang="en-US" sz="9292">
                <a:solidFill>
                  <a:srgbClr val="008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Noviembre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04503" y="8485734"/>
            <a:ext cx="4052590" cy="4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2"/>
              </a:lnSpc>
              <a:spcBef>
                <a:spcPct val="0"/>
              </a:spcBef>
            </a:pPr>
            <a:r>
              <a:rPr lang="en-US" sz="293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Dra. Diana Rocío Orué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37174" y="4809364"/>
            <a:ext cx="2439838" cy="95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2"/>
              </a:lnSpc>
            </a:pPr>
            <a:r>
              <a:rPr lang="en-US" sz="5594">
                <a:solidFill>
                  <a:srgbClr val="000E79"/>
                </a:solidFill>
                <a:latin typeface="Halimum"/>
                <a:ea typeface="Halimum"/>
                <a:cs typeface="Halimum"/>
                <a:sym typeface="Halimum"/>
              </a:rPr>
              <a:t>azul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096840"/>
            <a:ext cx="7841375" cy="283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1"/>
              </a:lnSpc>
            </a:pPr>
            <a:endParaRPr/>
          </a:p>
          <a:p>
            <a:pPr algn="ctr">
              <a:lnSpc>
                <a:spcPts val="6402"/>
              </a:lnSpc>
            </a:pPr>
            <a:r>
              <a:rPr lang="en-US" sz="5335" b="1">
                <a:solidFill>
                  <a:srgbClr val="000E79"/>
                </a:solidFill>
                <a:latin typeface="Poppins Bold"/>
                <a:ea typeface="Poppins Bold"/>
                <a:cs typeface="Poppins Bold"/>
                <a:sym typeface="Poppins Bold"/>
              </a:rPr>
              <a:t>Cáncer de Próstata</a:t>
            </a:r>
          </a:p>
          <a:p>
            <a:pPr algn="ctr">
              <a:lnSpc>
                <a:spcPts val="6402"/>
              </a:lnSpc>
            </a:pPr>
            <a:r>
              <a:rPr lang="en-US" sz="5335" b="1">
                <a:solidFill>
                  <a:srgbClr val="000E79"/>
                </a:solidFill>
                <a:latin typeface="Poppins Bold"/>
                <a:ea typeface="Poppins Bold"/>
                <a:cs typeface="Poppins Bold"/>
                <a:sym typeface="Poppins Bold"/>
              </a:rPr>
              <a:t> y su Relación </a:t>
            </a:r>
          </a:p>
          <a:p>
            <a:pPr marL="0" lvl="0" indent="0" algn="ctr">
              <a:lnSpc>
                <a:spcPts val="6402"/>
              </a:lnSpc>
            </a:pPr>
            <a:r>
              <a:rPr lang="en-US" sz="5335" b="1">
                <a:solidFill>
                  <a:srgbClr val="000E79"/>
                </a:solidFill>
                <a:latin typeface="Poppins Bold"/>
                <a:ea typeface="Poppins Bold"/>
                <a:cs typeface="Poppins Bold"/>
                <a:sym typeface="Poppins Bold"/>
              </a:rPr>
              <a:t>con la Salud Bucal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0" y="0"/>
            <a:ext cx="9128120" cy="6087315"/>
          </a:xfrm>
          <a:custGeom>
            <a:avLst/>
            <a:gdLst/>
            <a:ahLst/>
            <a:cxnLst/>
            <a:rect l="l" t="t" r="r" b="b"/>
            <a:pathLst>
              <a:path w="9128120" h="6087315">
                <a:moveTo>
                  <a:pt x="9128120" y="0"/>
                </a:moveTo>
                <a:lnTo>
                  <a:pt x="0" y="0"/>
                </a:lnTo>
                <a:lnTo>
                  <a:pt x="0" y="6087315"/>
                </a:lnTo>
                <a:lnTo>
                  <a:pt x="9128120" y="6087315"/>
                </a:lnTo>
                <a:lnTo>
                  <a:pt x="912812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3618">
            <a:off x="8328119" y="7692358"/>
            <a:ext cx="1946463" cy="2350835"/>
          </a:xfrm>
          <a:custGeom>
            <a:avLst/>
            <a:gdLst/>
            <a:ahLst/>
            <a:cxnLst/>
            <a:rect l="l" t="t" r="r" b="b"/>
            <a:pathLst>
              <a:path w="2677259" h="2999730">
                <a:moveTo>
                  <a:pt x="0" y="0"/>
                </a:moveTo>
                <a:lnTo>
                  <a:pt x="2677259" y="0"/>
                </a:lnTo>
                <a:lnTo>
                  <a:pt x="2677259" y="2999730"/>
                </a:lnTo>
                <a:lnTo>
                  <a:pt x="0" y="2999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49137">
            <a:off x="3441933" y="2924957"/>
            <a:ext cx="1176174" cy="1317842"/>
          </a:xfrm>
          <a:custGeom>
            <a:avLst/>
            <a:gdLst/>
            <a:ahLst/>
            <a:cxnLst/>
            <a:rect l="l" t="t" r="r" b="b"/>
            <a:pathLst>
              <a:path w="1176174" h="1317842">
                <a:moveTo>
                  <a:pt x="0" y="0"/>
                </a:moveTo>
                <a:lnTo>
                  <a:pt x="1176174" y="0"/>
                </a:lnTo>
                <a:lnTo>
                  <a:pt x="1176174" y="1317842"/>
                </a:lnTo>
                <a:lnTo>
                  <a:pt x="0" y="1317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117274">
            <a:off x="655238" y="2893720"/>
            <a:ext cx="1269072" cy="1015547"/>
          </a:xfrm>
          <a:custGeom>
            <a:avLst/>
            <a:gdLst/>
            <a:ahLst/>
            <a:cxnLst/>
            <a:rect l="l" t="t" r="r" b="b"/>
            <a:pathLst>
              <a:path w="2055502" h="1819120">
                <a:moveTo>
                  <a:pt x="0" y="0"/>
                </a:moveTo>
                <a:lnTo>
                  <a:pt x="2055503" y="0"/>
                </a:lnTo>
                <a:lnTo>
                  <a:pt x="2055503" y="1819120"/>
                </a:lnTo>
                <a:lnTo>
                  <a:pt x="0" y="1819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53125">
            <a:off x="8266367" y="1318073"/>
            <a:ext cx="1670757" cy="1478620"/>
          </a:xfrm>
          <a:custGeom>
            <a:avLst/>
            <a:gdLst/>
            <a:ahLst/>
            <a:cxnLst/>
            <a:rect l="l" t="t" r="r" b="b"/>
            <a:pathLst>
              <a:path w="1670757" h="1478620">
                <a:moveTo>
                  <a:pt x="0" y="0"/>
                </a:moveTo>
                <a:lnTo>
                  <a:pt x="1670758" y="0"/>
                </a:lnTo>
                <a:lnTo>
                  <a:pt x="1670758" y="1478620"/>
                </a:lnTo>
                <a:lnTo>
                  <a:pt x="0" y="1478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26320" y="433951"/>
            <a:ext cx="4953358" cy="1075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0"/>
              </a:lnSpc>
            </a:pPr>
            <a:r>
              <a:rPr lang="en-US" sz="6335">
                <a:solidFill>
                  <a:srgbClr val="0041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Noviembre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0327" y="1441101"/>
            <a:ext cx="2439838" cy="95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2"/>
              </a:lnSpc>
            </a:pPr>
            <a:r>
              <a:rPr lang="en-US" sz="5594">
                <a:solidFill>
                  <a:srgbClr val="000E79"/>
                </a:solidFill>
                <a:latin typeface="Halimum"/>
                <a:ea typeface="Halimum"/>
                <a:cs typeface="Halimum"/>
                <a:sym typeface="Halimum"/>
              </a:rPr>
              <a:t>azul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3618">
            <a:off x="8493410" y="8583047"/>
            <a:ext cx="1853120" cy="1952667"/>
          </a:xfrm>
          <a:custGeom>
            <a:avLst/>
            <a:gdLst/>
            <a:ahLst/>
            <a:cxnLst/>
            <a:rect l="l" t="t" r="r" b="b"/>
            <a:pathLst>
              <a:path w="2677259" h="2999730">
                <a:moveTo>
                  <a:pt x="0" y="0"/>
                </a:moveTo>
                <a:lnTo>
                  <a:pt x="2677259" y="0"/>
                </a:lnTo>
                <a:lnTo>
                  <a:pt x="2677259" y="2999730"/>
                </a:lnTo>
                <a:lnTo>
                  <a:pt x="0" y="2999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49137">
            <a:off x="3359863" y="2419229"/>
            <a:ext cx="1176174" cy="1317842"/>
          </a:xfrm>
          <a:custGeom>
            <a:avLst/>
            <a:gdLst/>
            <a:ahLst/>
            <a:cxnLst/>
            <a:rect l="l" t="t" r="r" b="b"/>
            <a:pathLst>
              <a:path w="1176174" h="1317842">
                <a:moveTo>
                  <a:pt x="0" y="0"/>
                </a:moveTo>
                <a:lnTo>
                  <a:pt x="1176174" y="0"/>
                </a:lnTo>
                <a:lnTo>
                  <a:pt x="1176174" y="1317842"/>
                </a:lnTo>
                <a:lnTo>
                  <a:pt x="0" y="1317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117274">
            <a:off x="169775" y="3212286"/>
            <a:ext cx="942811" cy="929792"/>
          </a:xfrm>
          <a:custGeom>
            <a:avLst/>
            <a:gdLst/>
            <a:ahLst/>
            <a:cxnLst/>
            <a:rect l="l" t="t" r="r" b="b"/>
            <a:pathLst>
              <a:path w="2055502" h="1819120">
                <a:moveTo>
                  <a:pt x="0" y="0"/>
                </a:moveTo>
                <a:lnTo>
                  <a:pt x="2055503" y="0"/>
                </a:lnTo>
                <a:lnTo>
                  <a:pt x="2055503" y="1819120"/>
                </a:lnTo>
                <a:lnTo>
                  <a:pt x="0" y="1819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53125">
            <a:off x="8917252" y="1636116"/>
            <a:ext cx="845393" cy="663772"/>
          </a:xfrm>
          <a:custGeom>
            <a:avLst/>
            <a:gdLst/>
            <a:ahLst/>
            <a:cxnLst/>
            <a:rect l="l" t="t" r="r" b="b"/>
            <a:pathLst>
              <a:path w="1670757" h="1478620">
                <a:moveTo>
                  <a:pt x="0" y="0"/>
                </a:moveTo>
                <a:lnTo>
                  <a:pt x="1670758" y="0"/>
                </a:lnTo>
                <a:lnTo>
                  <a:pt x="1670758" y="1478620"/>
                </a:lnTo>
                <a:lnTo>
                  <a:pt x="0" y="1478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50704" y="755121"/>
            <a:ext cx="6894405" cy="3633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1"/>
              </a:lnSpc>
            </a:pPr>
            <a:r>
              <a:rPr lang="en-US" sz="4765">
                <a:solidFill>
                  <a:srgbClr val="008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¿Qué es el Cáncer de Próstata?</a:t>
            </a:r>
          </a:p>
          <a:p>
            <a:pPr algn="ctr">
              <a:lnSpc>
                <a:spcPts val="8140"/>
              </a:lnSpc>
            </a:pPr>
            <a:endParaRPr lang="en-US" sz="4765">
              <a:solidFill>
                <a:srgbClr val="0086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ctr">
              <a:lnSpc>
                <a:spcPts val="7575"/>
              </a:lnSpc>
            </a:pPr>
            <a:endParaRPr lang="en-US" sz="4765">
              <a:solidFill>
                <a:srgbClr val="0086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28081" y="3351314"/>
            <a:ext cx="8958919" cy="575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2"/>
              </a:lnSpc>
              <a:spcBef>
                <a:spcPct val="0"/>
              </a:spcBef>
            </a:pPr>
            <a:r>
              <a:rPr lang="en-US" sz="31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 próstata es una glándula del sistema reproductor masculino.</a:t>
            </a:r>
          </a:p>
          <a:p>
            <a:pPr algn="l">
              <a:lnSpc>
                <a:spcPts val="3762"/>
              </a:lnSpc>
              <a:spcBef>
                <a:spcPct val="0"/>
              </a:spcBef>
            </a:pPr>
            <a:endParaRPr lang="en-US" sz="313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762"/>
              </a:lnSpc>
              <a:spcBef>
                <a:spcPct val="0"/>
              </a:spcBef>
            </a:pPr>
            <a:r>
              <a:rPr lang="en-US" sz="31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• El cáncer de próstata es una de las principales causas de enfermedad y muerte en hombres adultos.</a:t>
            </a:r>
          </a:p>
          <a:p>
            <a:pPr algn="l">
              <a:lnSpc>
                <a:spcPts val="3762"/>
              </a:lnSpc>
              <a:spcBef>
                <a:spcPct val="0"/>
              </a:spcBef>
            </a:pPr>
            <a:endParaRPr lang="en-US" sz="313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762"/>
              </a:lnSpc>
              <a:spcBef>
                <a:spcPct val="0"/>
              </a:spcBef>
            </a:pPr>
            <a:r>
              <a:rPr lang="en-US" sz="31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• La detección temprana mejora las posibilidades de tratamiento y sobrevida.</a:t>
            </a:r>
          </a:p>
          <a:p>
            <a:pPr algn="l">
              <a:lnSpc>
                <a:spcPts val="3762"/>
              </a:lnSpc>
              <a:spcBef>
                <a:spcPct val="0"/>
              </a:spcBef>
            </a:pPr>
            <a:endParaRPr lang="en-US" sz="313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762"/>
              </a:lnSpc>
              <a:spcBef>
                <a:spcPct val="0"/>
              </a:spcBef>
            </a:pPr>
            <a:r>
              <a:rPr lang="en-US" sz="31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• Consultá a tu médico ante cualquier síntoma urinario o cambios al orinar.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85736" y="2035482"/>
            <a:ext cx="8472564" cy="506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0"/>
              </a:lnSpc>
              <a:spcBef>
                <a:spcPct val="0"/>
              </a:spcBef>
            </a:pPr>
            <a:r>
              <a:rPr lang="en-US" sz="41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Factores de riesgo:</a:t>
            </a:r>
          </a:p>
          <a:p>
            <a:pPr algn="ctr">
              <a:lnSpc>
                <a:spcPts val="4990"/>
              </a:lnSpc>
              <a:spcBef>
                <a:spcPct val="0"/>
              </a:spcBef>
            </a:pPr>
            <a:endParaRPr lang="en-US" sz="415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897895" lvl="1" indent="-448948" algn="l">
              <a:lnSpc>
                <a:spcPts val="4990"/>
              </a:lnSpc>
              <a:buFont typeface="Arial"/>
              <a:buChar char="•"/>
            </a:pPr>
            <a:r>
              <a:rPr lang="en-US" sz="41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Edad (mayor riesgo después de los 50 años)</a:t>
            </a:r>
          </a:p>
          <a:p>
            <a:pPr marL="897895" lvl="1" indent="-448948" algn="l">
              <a:lnSpc>
                <a:spcPts val="4990"/>
              </a:lnSpc>
              <a:buFont typeface="Arial"/>
              <a:buChar char="•"/>
            </a:pPr>
            <a:r>
              <a:rPr lang="en-US" sz="41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Antecedentes familiares</a:t>
            </a:r>
          </a:p>
          <a:p>
            <a:pPr marL="897895" lvl="1" indent="-448948" algn="l">
              <a:lnSpc>
                <a:spcPts val="4990"/>
              </a:lnSpc>
              <a:buFont typeface="Arial"/>
              <a:buChar char="•"/>
            </a:pPr>
            <a:r>
              <a:rPr lang="en-US" sz="41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Obesidad y sedentarismo</a:t>
            </a:r>
          </a:p>
          <a:p>
            <a:pPr marL="897895" lvl="1" indent="-448948" algn="l">
              <a:lnSpc>
                <a:spcPts val="4990"/>
              </a:lnSpc>
              <a:buFont typeface="Arial"/>
              <a:buChar char="•"/>
            </a:pPr>
            <a:r>
              <a:rPr lang="en-US" sz="41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Tabaquismo</a:t>
            </a:r>
          </a:p>
          <a:p>
            <a:pPr marL="897895" lvl="1" indent="-448948" algn="l">
              <a:lnSpc>
                <a:spcPts val="4990"/>
              </a:lnSpc>
              <a:buFont typeface="Arial"/>
              <a:buChar char="•"/>
            </a:pPr>
            <a:r>
              <a:rPr lang="en-US" sz="41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Inflamación crónica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8401810"/>
            <a:ext cx="3942412" cy="1885190"/>
          </a:xfrm>
          <a:custGeom>
            <a:avLst/>
            <a:gdLst/>
            <a:ahLst/>
            <a:cxnLst/>
            <a:rect l="l" t="t" r="r" b="b"/>
            <a:pathLst>
              <a:path w="3942412" h="1885190">
                <a:moveTo>
                  <a:pt x="0" y="0"/>
                </a:moveTo>
                <a:lnTo>
                  <a:pt x="3942412" y="0"/>
                </a:lnTo>
                <a:lnTo>
                  <a:pt x="3942412" y="1885190"/>
                </a:lnTo>
                <a:lnTo>
                  <a:pt x="0" y="1885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" y="495300"/>
            <a:ext cx="10287000" cy="9791700"/>
          </a:xfrm>
          <a:custGeom>
            <a:avLst/>
            <a:gdLst/>
            <a:ahLst/>
            <a:cxnLst/>
            <a:rect l="l" t="t" r="r" b="b"/>
            <a:pathLst>
              <a:path w="10703867" h="10287000">
                <a:moveTo>
                  <a:pt x="0" y="0"/>
                </a:moveTo>
                <a:lnTo>
                  <a:pt x="10703867" y="0"/>
                </a:lnTo>
                <a:lnTo>
                  <a:pt x="1070386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0776" r="-118056"/>
            </a:stretch>
          </a:blipFill>
        </p:spPr>
      </p:sp>
      <p:sp>
        <p:nvSpPr>
          <p:cNvPr id="5" name="Freeform 5"/>
          <p:cNvSpPr/>
          <p:nvPr/>
        </p:nvSpPr>
        <p:spPr>
          <a:xfrm rot="1798827">
            <a:off x="1149955" y="-844185"/>
            <a:ext cx="8229600" cy="5835535"/>
          </a:xfrm>
          <a:custGeom>
            <a:avLst/>
            <a:gdLst/>
            <a:ahLst/>
            <a:cxnLst/>
            <a:rect l="l" t="t" r="r" b="b"/>
            <a:pathLst>
              <a:path w="8229600" h="5835535">
                <a:moveTo>
                  <a:pt x="0" y="0"/>
                </a:moveTo>
                <a:lnTo>
                  <a:pt x="8229600" y="0"/>
                </a:lnTo>
                <a:lnTo>
                  <a:pt x="8229600" y="5835534"/>
                </a:lnTo>
                <a:lnTo>
                  <a:pt x="0" y="583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9100"/>
            <a:ext cx="10096500" cy="9867900"/>
          </a:xfrm>
          <a:custGeom>
            <a:avLst/>
            <a:gdLst/>
            <a:ahLst/>
            <a:cxnLst/>
            <a:rect l="l" t="t" r="r" b="b"/>
            <a:pathLst>
              <a:path w="12701145" h="10946077">
                <a:moveTo>
                  <a:pt x="0" y="0"/>
                </a:moveTo>
                <a:lnTo>
                  <a:pt x="12701145" y="0"/>
                </a:lnTo>
                <a:lnTo>
                  <a:pt x="12701145" y="10946077"/>
                </a:lnTo>
                <a:lnTo>
                  <a:pt x="0" y="10946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42423" y="661260"/>
            <a:ext cx="8402154" cy="7752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 b="1">
                <a:solidFill>
                  <a:srgbClr val="0041FF"/>
                </a:solidFill>
                <a:latin typeface="Poppins Bold"/>
                <a:ea typeface="Poppins Bold"/>
                <a:cs typeface="Poppins Bold"/>
                <a:sym typeface="Poppins Bold"/>
              </a:rPr>
              <a:t>La Conexión: </a:t>
            </a:r>
          </a:p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 b="1">
                <a:solidFill>
                  <a:srgbClr val="0041FF"/>
                </a:solidFill>
                <a:latin typeface="Poppins Bold"/>
                <a:ea typeface="Poppins Bold"/>
                <a:cs typeface="Poppins Bold"/>
                <a:sym typeface="Poppins Bold"/>
              </a:rPr>
              <a:t>Enfermedad Periodontal y Cáncer</a:t>
            </a:r>
          </a:p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3399" b="1">
                <a:solidFill>
                  <a:srgbClr val="0041FF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es la Enfermedad Periodontal?</a:t>
            </a:r>
          </a:p>
          <a:p>
            <a:pPr algn="ctr">
              <a:lnSpc>
                <a:spcPts val="4079"/>
              </a:lnSpc>
              <a:spcBef>
                <a:spcPct val="0"/>
              </a:spcBef>
            </a:pPr>
            <a:endParaRPr lang="en-US" sz="3399" b="1">
              <a:solidFill>
                <a:srgbClr val="0041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una infección de las encías causada por bacterias que, si no se trata, puede:</a:t>
            </a:r>
          </a:p>
          <a:p>
            <a:pPr algn="just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07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Causar inflamación crónica</a:t>
            </a:r>
          </a:p>
          <a:p>
            <a:pPr algn="just">
              <a:lnSpc>
                <a:spcPts val="407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34059" lvl="1" indent="-367030" algn="just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Provocar sangrado de encías</a:t>
            </a:r>
          </a:p>
          <a:p>
            <a:pPr marL="734059" lvl="1" indent="-367030" algn="just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Generar mal aliento</a:t>
            </a:r>
          </a:p>
          <a:p>
            <a:pPr marL="734059" lvl="1" indent="-367030" algn="just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Movilidad dentaria</a:t>
            </a:r>
          </a:p>
          <a:p>
            <a:pPr marL="734059" lvl="1" indent="-367030" algn="just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Llevar a la pérdida de dientes</a:t>
            </a:r>
          </a:p>
          <a:p>
            <a:pPr algn="just">
              <a:lnSpc>
                <a:spcPts val="4079"/>
              </a:lnSpc>
            </a:pPr>
            <a:endParaRPr lang="en-US" sz="3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581101" y="7939632"/>
            <a:ext cx="1803031" cy="2057400"/>
          </a:xfrm>
          <a:custGeom>
            <a:avLst/>
            <a:gdLst/>
            <a:ahLst/>
            <a:cxnLst/>
            <a:rect l="l" t="t" r="r" b="b"/>
            <a:pathLst>
              <a:path w="1803031" h="2057400">
                <a:moveTo>
                  <a:pt x="0" y="0"/>
                </a:moveTo>
                <a:lnTo>
                  <a:pt x="1803031" y="0"/>
                </a:lnTo>
                <a:lnTo>
                  <a:pt x="180303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43821" y="7504987"/>
            <a:ext cx="6187321" cy="2782013"/>
          </a:xfrm>
          <a:custGeom>
            <a:avLst/>
            <a:gdLst/>
            <a:ahLst/>
            <a:cxnLst/>
            <a:rect l="l" t="t" r="r" b="b"/>
            <a:pathLst>
              <a:path w="6187321" h="2828508">
                <a:moveTo>
                  <a:pt x="0" y="0"/>
                </a:moveTo>
                <a:lnTo>
                  <a:pt x="6187321" y="0"/>
                </a:lnTo>
                <a:lnTo>
                  <a:pt x="6187321" y="2828508"/>
                </a:lnTo>
                <a:lnTo>
                  <a:pt x="0" y="282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845" t="-40770" r="-5228" b="-365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3602" y="576340"/>
            <a:ext cx="9139796" cy="1219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en-US" sz="3935" b="1">
                <a:solidFill>
                  <a:srgbClr val="0041FF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Dice la Evidencia Científica?</a:t>
            </a:r>
          </a:p>
          <a:p>
            <a:pPr algn="ctr">
              <a:lnSpc>
                <a:spcPts val="4722"/>
              </a:lnSpc>
              <a:spcBef>
                <a:spcPct val="0"/>
              </a:spcBef>
            </a:pPr>
            <a:endParaRPr lang="en-US" sz="3935" b="1">
              <a:solidFill>
                <a:srgbClr val="0041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5143500" y="7828111"/>
            <a:ext cx="2217471" cy="2458889"/>
          </a:xfrm>
          <a:custGeom>
            <a:avLst/>
            <a:gdLst/>
            <a:ahLst/>
            <a:cxnLst/>
            <a:rect l="l" t="t" r="r" b="b"/>
            <a:pathLst>
              <a:path w="2217471" h="2458889">
                <a:moveTo>
                  <a:pt x="0" y="0"/>
                </a:moveTo>
                <a:lnTo>
                  <a:pt x="2217471" y="0"/>
                </a:lnTo>
                <a:lnTo>
                  <a:pt x="2217471" y="2458889"/>
                </a:lnTo>
                <a:lnTo>
                  <a:pt x="0" y="2458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55098" y="1265602"/>
            <a:ext cx="9831902" cy="646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2"/>
              </a:lnSpc>
            </a:pPr>
            <a:endParaRPr/>
          </a:p>
          <a:p>
            <a:pPr marL="612115" lvl="1" indent="-306058" algn="l">
              <a:lnSpc>
                <a:spcPts val="3402"/>
              </a:lnSpc>
              <a:buFont typeface="Arial"/>
              <a:buChar char="•"/>
            </a:pPr>
            <a:r>
              <a:rPr lang="en-US" sz="28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 inflamación crónica y las bacterias periodontales pueden contribuir a respuestas inflamatorias sistémicas.</a:t>
            </a:r>
          </a:p>
          <a:p>
            <a:pPr algn="l">
              <a:lnSpc>
                <a:spcPts val="3402"/>
              </a:lnSpc>
            </a:pPr>
            <a:endParaRPr lang="en-US" sz="283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12115" lvl="1" indent="-306058" algn="l">
              <a:lnSpc>
                <a:spcPts val="3402"/>
              </a:lnSpc>
              <a:buFont typeface="Arial"/>
              <a:buChar char="•"/>
            </a:pPr>
            <a:r>
              <a:rPr lang="en-US" sz="28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No se ha comprobado una relación directa de causa y efecto, pero mantener una buena salud bucal ayuda a reducir la inflamación general del cuerpo.</a:t>
            </a:r>
          </a:p>
          <a:p>
            <a:pPr algn="l">
              <a:lnSpc>
                <a:spcPts val="3402"/>
              </a:lnSpc>
            </a:pPr>
            <a:endParaRPr lang="en-US" sz="283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12115" lvl="1" indent="-306058" algn="l">
              <a:lnSpc>
                <a:spcPts val="3402"/>
              </a:lnSpc>
              <a:buFont typeface="Arial"/>
              <a:buChar char="•"/>
            </a:pPr>
            <a:r>
              <a:rPr lang="en-US" sz="28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 pacientes con cáncer de próstata, los tratamientos hormonales o quimioterápicos pueden producir sequedad bucal, alteraciones del gusto o infecciones, por lo que el control odontológico es fundamental.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2259023"/>
            <a:ext cx="9258300" cy="5486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ctr">
              <a:lnSpc>
                <a:spcPts val="311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Mantener controles odontológicos regulares (al menos cada 6–12 meses).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61339" lvl="1" indent="-280669" algn="ctr">
              <a:lnSpc>
                <a:spcPts val="311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Higiene diaria: cepillado mínimo 2 veces/día, uso de hilo dental o interdental, enjuague si el profesional lo indica.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61339" lvl="1" indent="-280669" algn="ctr">
              <a:lnSpc>
                <a:spcPts val="311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Si fumás o consumís alcohol con frecuencia, consultá sobre apoyo para disminuirlo: ambos aumentan riesgos de carcer oral y prostático.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endParaRPr lang="en-US" sz="25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61339" lvl="1" indent="-280669" algn="ctr">
              <a:lnSpc>
                <a:spcPts val="3119"/>
              </a:lnSpc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Mantené una alimentación balanceada rica en frutas y verduras.</a:t>
            </a:r>
          </a:p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Realiza actividad física.</a:t>
            </a:r>
          </a:p>
        </p:txBody>
      </p:sp>
      <p:sp>
        <p:nvSpPr>
          <p:cNvPr id="3" name="Freeform 3"/>
          <p:cNvSpPr/>
          <p:nvPr/>
        </p:nvSpPr>
        <p:spPr>
          <a:xfrm>
            <a:off x="742959" y="7611328"/>
            <a:ext cx="2274728" cy="2378518"/>
          </a:xfrm>
          <a:custGeom>
            <a:avLst/>
            <a:gdLst/>
            <a:ahLst/>
            <a:cxnLst/>
            <a:rect l="l" t="t" r="r" b="b"/>
            <a:pathLst>
              <a:path w="2274728" h="2378518">
                <a:moveTo>
                  <a:pt x="0" y="0"/>
                </a:moveTo>
                <a:lnTo>
                  <a:pt x="2274728" y="0"/>
                </a:lnTo>
                <a:lnTo>
                  <a:pt x="2274728" y="2378519"/>
                </a:lnTo>
                <a:lnTo>
                  <a:pt x="0" y="2378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46391" y="7611328"/>
            <a:ext cx="2159918" cy="2159918"/>
          </a:xfrm>
          <a:custGeom>
            <a:avLst/>
            <a:gdLst/>
            <a:ahLst/>
            <a:cxnLst/>
            <a:rect l="l" t="t" r="r" b="b"/>
            <a:pathLst>
              <a:path w="2159918" h="2159918">
                <a:moveTo>
                  <a:pt x="0" y="0"/>
                </a:moveTo>
                <a:lnTo>
                  <a:pt x="2159918" y="0"/>
                </a:lnTo>
                <a:lnTo>
                  <a:pt x="2159918" y="2159919"/>
                </a:lnTo>
                <a:lnTo>
                  <a:pt x="0" y="2159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76709" y="171450"/>
            <a:ext cx="8229600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2"/>
              </a:lnSpc>
              <a:spcBef>
                <a:spcPct val="0"/>
              </a:spcBef>
            </a:pPr>
            <a:r>
              <a:rPr lang="en-US" sz="5335" b="1">
                <a:solidFill>
                  <a:srgbClr val="0041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Recomendaciones prácticas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6442" y="2190601"/>
            <a:ext cx="8705603" cy="575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2"/>
              </a:lnSpc>
              <a:spcBef>
                <a:spcPct val="0"/>
              </a:spcBef>
            </a:pPr>
            <a:r>
              <a:rPr lang="en-US" sz="31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• Informá a tu odontólogo y a tu médico si estás en tratamiento por enfermedad prostática (terapia hormonal, quimioterapia), porque algunos tratamientos afectan la boca (sequedad, infecciones).</a:t>
            </a:r>
          </a:p>
          <a:p>
            <a:pPr algn="ctr">
              <a:lnSpc>
                <a:spcPts val="3762"/>
              </a:lnSpc>
              <a:spcBef>
                <a:spcPct val="0"/>
              </a:spcBef>
            </a:pPr>
            <a:r>
              <a:rPr lang="en-US" sz="31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ctr">
              <a:lnSpc>
                <a:spcPts val="3762"/>
              </a:lnSpc>
              <a:spcBef>
                <a:spcPct val="0"/>
              </a:spcBef>
            </a:pPr>
            <a:r>
              <a:rPr lang="en-US" sz="31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• Ante sangrado de encías, mal aliento persistente o dolor bucal, pedí evaluación dental. Ante cambios urinarios o molestias prostáticas, consultá con tu médico.</a:t>
            </a:r>
          </a:p>
        </p:txBody>
      </p:sp>
      <p:sp>
        <p:nvSpPr>
          <p:cNvPr id="3" name="Freeform 3"/>
          <p:cNvSpPr/>
          <p:nvPr/>
        </p:nvSpPr>
        <p:spPr>
          <a:xfrm>
            <a:off x="2177462" y="7809257"/>
            <a:ext cx="1985852" cy="2000401"/>
          </a:xfrm>
          <a:custGeom>
            <a:avLst/>
            <a:gdLst/>
            <a:ahLst/>
            <a:cxnLst/>
            <a:rect l="l" t="t" r="r" b="b"/>
            <a:pathLst>
              <a:path w="1985852" h="2000401">
                <a:moveTo>
                  <a:pt x="0" y="0"/>
                </a:moveTo>
                <a:lnTo>
                  <a:pt x="1985852" y="0"/>
                </a:lnTo>
                <a:lnTo>
                  <a:pt x="1985852" y="2000401"/>
                </a:lnTo>
                <a:lnTo>
                  <a:pt x="0" y="2000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02988" y="8085721"/>
            <a:ext cx="1907777" cy="1723937"/>
          </a:xfrm>
          <a:custGeom>
            <a:avLst/>
            <a:gdLst/>
            <a:ahLst/>
            <a:cxnLst/>
            <a:rect l="l" t="t" r="r" b="b"/>
            <a:pathLst>
              <a:path w="1907777" h="1723937">
                <a:moveTo>
                  <a:pt x="0" y="0"/>
                </a:moveTo>
                <a:lnTo>
                  <a:pt x="1907777" y="0"/>
                </a:lnTo>
                <a:lnTo>
                  <a:pt x="1907777" y="1723937"/>
                </a:lnTo>
                <a:lnTo>
                  <a:pt x="0" y="172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96442" y="981075"/>
            <a:ext cx="8494117" cy="7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2"/>
              </a:lnSpc>
              <a:spcBef>
                <a:spcPct val="0"/>
              </a:spcBef>
            </a:pPr>
            <a:r>
              <a:rPr lang="en-US" sz="4535" b="1">
                <a:solidFill>
                  <a:srgbClr val="0041FF"/>
                </a:solidFill>
                <a:latin typeface="Poppins Bold"/>
                <a:ea typeface="Poppins Bold"/>
                <a:cs typeface="Poppins Bold"/>
                <a:sym typeface="Poppins Bold"/>
              </a:rPr>
              <a:t>Recomendaciones prácticas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D1D1D1">
                <a:alpha val="10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2095" y="7715801"/>
            <a:ext cx="2921817" cy="2571199"/>
          </a:xfrm>
          <a:custGeom>
            <a:avLst/>
            <a:gdLst/>
            <a:ahLst/>
            <a:cxnLst/>
            <a:rect l="l" t="t" r="r" b="b"/>
            <a:pathLst>
              <a:path w="2921817" h="2571199">
                <a:moveTo>
                  <a:pt x="0" y="0"/>
                </a:moveTo>
                <a:lnTo>
                  <a:pt x="2921816" y="0"/>
                </a:lnTo>
                <a:lnTo>
                  <a:pt x="2921816" y="2571199"/>
                </a:lnTo>
                <a:lnTo>
                  <a:pt x="0" y="2571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208723"/>
            <a:ext cx="8229600" cy="7869555"/>
          </a:xfrm>
          <a:custGeom>
            <a:avLst/>
            <a:gdLst/>
            <a:ahLst/>
            <a:cxnLst/>
            <a:rect l="l" t="t" r="r" b="b"/>
            <a:pathLst>
              <a:path w="8229600" h="7869555">
                <a:moveTo>
                  <a:pt x="0" y="0"/>
                </a:moveTo>
                <a:lnTo>
                  <a:pt x="8229600" y="0"/>
                </a:lnTo>
                <a:lnTo>
                  <a:pt x="8229600" y="7869555"/>
                </a:lnTo>
                <a:lnTo>
                  <a:pt x="0" y="786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3038301"/>
            <a:ext cx="8229600" cy="417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en-US" sz="39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 salud bucal es parte de tu salud general.</a:t>
            </a:r>
          </a:p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en-US" sz="39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Cuidar tu boca es cuidar tu bienestar, tu calidad de vida y tu futuro.</a:t>
            </a:r>
          </a:p>
          <a:p>
            <a:pPr algn="ctr">
              <a:lnSpc>
                <a:spcPts val="4722"/>
              </a:lnSpc>
              <a:spcBef>
                <a:spcPct val="0"/>
              </a:spcBef>
            </a:pPr>
            <a:r>
              <a:rPr lang="en-US" sz="393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Noviembre Azul: prevení, controlá, viví saludablemente.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40582" y="9229725"/>
            <a:ext cx="4052590" cy="4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2"/>
              </a:lnSpc>
              <a:spcBef>
                <a:spcPct val="0"/>
              </a:spcBef>
            </a:pPr>
            <a:r>
              <a:rPr lang="en-US" sz="293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Dra. Diana Rocío Orué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430</Words>
  <Application>Microsoft Office PowerPoint</Application>
  <PresentationFormat>Personalizado</PresentationFormat>
  <Paragraphs>61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Halimum</vt:lpstr>
      <vt:lpstr>Calibri</vt:lpstr>
      <vt:lpstr>Poppins Bold</vt:lpstr>
      <vt:lpstr>Poppins</vt:lpstr>
      <vt:lpstr>Arial</vt:lpstr>
      <vt:lpstr>League Spartan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 para Instagram Noviembre Azul Cancer de Prostata Simple Azul</dc:title>
  <cp:lastModifiedBy>Rocio Orue</cp:lastModifiedBy>
  <cp:revision>6</cp:revision>
  <dcterms:created xsi:type="dcterms:W3CDTF">2006-08-16T00:00:00Z</dcterms:created>
  <dcterms:modified xsi:type="dcterms:W3CDTF">2025-11-03T14:40:41Z</dcterms:modified>
  <dc:identifier>DAG3pEvmY9s</dc:identifier>
</cp:coreProperties>
</file>